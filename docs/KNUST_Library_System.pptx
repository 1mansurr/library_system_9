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9D3C4"/>
                </a:solidFill>
                <a:latin typeface="Calibri"/>
              </a:rPr>
              <a:t>SELF-SERVICE LIBRARY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FFFEFB"/>
                </a:solidFill>
                <a:latin typeface="Georgia"/>
              </a:rPr>
              <a:t>KNUST Library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D8E3DC"/>
                </a:solidFill>
                <a:latin typeface="Calibri"/>
              </a:rPr>
              <a:t>Borrow and return without a queue. Browse by college, department, and course.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D8E3DC"/>
                </a:solidFill>
                <a:latin typeface="Calibri"/>
              </a:rPr>
              <a:t>Built as three independent services plus a React frontend.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800600"/>
            <a:ext cx="2926080" cy="0"/>
          </a:xfrm>
          <a:prstGeom prst="line">
            <a:avLst/>
          </a:prstGeom>
          <a:ln w="19050">
            <a:solidFill>
              <a:srgbClr val="4C6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9D3C4"/>
                </a:solidFill>
                <a:latin typeface="Calibri"/>
              </a:rPr>
              <a:t>frontend-production-3c3f.up.railway.app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A8721F"/>
                </a:solidFill>
                <a:latin typeface="Calibri"/>
              </a:rPr>
              <a:t>›  Self-service,  </a:t>
            </a:r>
            <a:r>
              <a:rPr sz="1600">
                <a:solidFill>
                  <a:srgbClr val="2A2620"/>
                </a:solidFill>
                <a:latin typeface="Calibri"/>
              </a:rPr>
              <a:t>students, staff, and external members borrow and return books themselves — no librarian approval step.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A8721F"/>
                </a:solidFill>
                <a:latin typeface="Calibri"/>
              </a:rPr>
              <a:t>›  Organized by course,  </a:t>
            </a:r>
            <a:r>
              <a:rPr sz="1600">
                <a:solidFill>
                  <a:srgbClr val="2A2620"/>
                </a:solidFill>
                <a:latin typeface="Calibri"/>
              </a:rPr>
              <a:t>catalogue drills down College → Department → Course of Study → Book.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A8721F"/>
                </a:solidFill>
                <a:latin typeface="Calibri"/>
              </a:rPr>
              <a:t>›  Auto shelving,  </a:t>
            </a:r>
            <a:r>
              <a:rPr sz="1600">
                <a:solidFill>
                  <a:srgbClr val="2A2620"/>
                </a:solidFill>
                <a:latin typeface="Calibri"/>
              </a:rPr>
              <a:t>hardcopy shelf locations are computed automatically, never typed by hand.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 b="1">
                <a:solidFill>
                  <a:srgbClr val="A8721F"/>
                </a:solidFill>
                <a:latin typeface="Calibri"/>
              </a:rPr>
              <a:t>›  Built for librarians too,  </a:t>
            </a:r>
            <a:r>
              <a:rPr sz="1600">
                <a:solidFill>
                  <a:srgbClr val="2A2620"/>
                </a:solidFill>
                <a:latin typeface="Calibri"/>
              </a:rPr>
              <a:t>bulk spreadsheet import, member management, and six downloadable report tabs.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37360"/>
            <a:ext cx="4480560" cy="118872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847088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234739"/>
                </a:solidFill>
                <a:latin typeface="Georgi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762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66E60"/>
                </a:solidFill>
                <a:latin typeface="Calibri"/>
              </a:rPr>
              <a:t>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154680"/>
            <a:ext cx="4480560" cy="118872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3264408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234739"/>
                </a:solidFill>
                <a:latin typeface="Georgia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59359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66E60"/>
                </a:solidFill>
                <a:latin typeface="Calibri"/>
              </a:rPr>
              <a:t>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572000"/>
            <a:ext cx="4480560" cy="118872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4681728"/>
            <a:ext cx="1463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234739"/>
                </a:solidFill>
                <a:latin typeface="Georgia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01091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66E60"/>
                </a:solidFill>
                <a:latin typeface="Calibri"/>
              </a:rPr>
              <a:t>Courses of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Three services, one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766E60"/>
                </a:solidFill>
                <a:latin typeface="Calibri"/>
              </a:rPr>
              <a:t>Each backend service owns its own responsibility and its own database — a deliberate microservice split.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EFB"/>
                </a:solidFill>
                <a:latin typeface="Georgia"/>
              </a:rPr>
              <a:t>user-service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9D3C4"/>
                </a:solidFill>
                <a:latin typeface="Calibri"/>
              </a:rPr>
              <a:t>port 8081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4ECE8"/>
                </a:solidFill>
                <a:latin typeface="Calibri"/>
              </a:rPr>
              <a:t>Accounts, JWT auth,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4884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500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EFB"/>
                </a:solidFill>
                <a:latin typeface="Georgia"/>
              </a:rPr>
              <a:t>book-service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1576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9D3C4"/>
                </a:solidFill>
                <a:latin typeface="Calibri"/>
              </a:rPr>
              <a:t>port 8082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4ECE8"/>
                </a:solidFill>
                <a:latin typeface="Calibri"/>
              </a:rPr>
              <a:t>Colleges, departments, courses, books, copies, shelf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14884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35000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EFB"/>
                </a:solidFill>
                <a:latin typeface="Georgia"/>
              </a:rPr>
              <a:t>loan-service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1576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9D3C4"/>
                </a:solidFill>
                <a:latin typeface="Calibri"/>
              </a:rPr>
              <a:t>port 8083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4ECE8"/>
                </a:solidFill>
                <a:latin typeface="Calibri"/>
              </a:rPr>
              <a:t>Borrowing, returns, fines,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43400"/>
            <a:ext cx="10378440" cy="914400"/>
          </a:xfrm>
          <a:prstGeom prst="roundRect">
            <a:avLst>
              <a:gd name="adj" fmla="val 4500"/>
            </a:avLst>
          </a:prstGeom>
          <a:solidFill>
            <a:srgbClr val="F6EDDA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9829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7C531A"/>
                </a:solidFill>
                <a:latin typeface="Calibri"/>
              </a:rPr>
              <a:t>React (Vite) frontend  ·  talks to all three services over REST, JWT in every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1">
                <a:solidFill>
                  <a:srgbClr val="766E60"/>
                </a:solidFill>
                <a:latin typeface="Calibri"/>
              </a:rPr>
              <a:t>Postgres: one instance, three logical databases (users_db, books_db, loans_db) · Flyway migrations · deployed on Railway, auto-deploy on push to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College → Department → Course → 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241280" cy="713232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34739"/>
                </a:solidFill>
                <a:latin typeface="Calibri"/>
              </a:rPr>
              <a:t>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College of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42032"/>
            <a:ext cx="9738360" cy="713232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34739"/>
                </a:solidFill>
                <a:latin typeface="Calibri"/>
              </a:rP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9504"/>
            <a:ext cx="9281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Department of Computer Science  ·  shelf prefix CSC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392424"/>
            <a:ext cx="9235440" cy="713232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34655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34739"/>
                </a:solidFill>
                <a:latin typeface="Calibri"/>
              </a:rPr>
              <a:t>Course of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739896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BSc. Computer Science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4242816"/>
            <a:ext cx="8732520" cy="713232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31596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90288"/>
            <a:ext cx="8275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Introduction to 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5093208"/>
            <a:ext cx="8229600" cy="713232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5166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44068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Hardcopy → shelf CSC-1   /   Softcopy → digital, no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1">
                <a:solidFill>
                  <a:srgbClr val="766E60"/>
                </a:solidFill>
                <a:latin typeface="Calibri"/>
              </a:rPr>
              <a:t>Books added without a course fall back to a generic "GEN" shelf prefix and stay uncategorised until edited.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MEMBER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Register → Browse → Borrow →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74920" cy="196596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34739"/>
                </a:solidFill>
                <a:latin typeface="Georgia"/>
              </a:rPr>
              <a:t>1.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Member type sets validation: students need @st.knust.edu.gh + a 7-digit index number; staff need @knust.edu.gh + a staff ID. A card number is issued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5074920" cy="196596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7452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34739"/>
                </a:solidFill>
                <a:latin typeface="Georgia"/>
              </a:rPr>
              <a:t>2. Browse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Drill into College → Department → Course, or search by title or author within a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074920" cy="196596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34739"/>
                </a:solidFill>
                <a:latin typeface="Georgia"/>
              </a:rPr>
              <a:t>3. Borrow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One click. Self-service — no approval step. Max 5 active loans, 14-day loan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931920"/>
            <a:ext cx="5074920" cy="196596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14800"/>
            <a:ext cx="4526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234739"/>
                </a:solidFill>
                <a:latin typeface="Georgia"/>
              </a:rPr>
              <a:t>4.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617720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2620"/>
                </a:solidFill>
                <a:latin typeface="Calibri"/>
              </a:rPr>
              <a:t>Softcopy: one click. Hardcopy: a second "I've dropped it off" confirmation, reminding the member to physically return it to the desk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LOAN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Limits and fines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164592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EFB"/>
                </a:solidFill>
                <a:latin typeface="Georg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9D3C4"/>
                </a:solidFill>
                <a:latin typeface="Calibri"/>
              </a:rPr>
              <a:t>max active loans per 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429000" cy="164592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EFB"/>
                </a:solidFill>
                <a:latin typeface="Georgia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8803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9D3C4"/>
                </a:solidFill>
                <a:latin typeface="Calibri"/>
              </a:rPr>
              <a:t>day loan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429000" cy="1645920"/>
          </a:xfrm>
          <a:prstGeom prst="roundRect">
            <a:avLst>
              <a:gd name="adj" fmla="val 4500"/>
            </a:avLst>
          </a:prstGeom>
          <a:solidFill>
            <a:srgbClr val="234739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EFB"/>
                </a:solidFill>
                <a:latin typeface="Georgia"/>
              </a:rPr>
              <a:t>GH₵0.50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803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9D3C4"/>
                </a:solidFill>
                <a:latin typeface="Calibri"/>
              </a:rPr>
              <a:t>fine per day overdue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2A2620"/>
                </a:solidFill>
                <a:latin typeface="Calibri"/>
              </a:rPr>
              <a:t>›  Fines accrue at GH₵0.50 per day past the due date and are computed at return time.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2A2620"/>
                </a:solidFill>
                <a:latin typeface="Calibri"/>
              </a:rPr>
              <a:t>›  Overdue active loans show a live running fine estimate before the book is even returned.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2A2620"/>
                </a:solidFill>
                <a:latin typeface="Calibri"/>
              </a:rPr>
              <a:t>›  Hitting the 5-loan cap blocks new borrows until something is returned.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LIBRARIAN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Dashboard, import, and six report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A8721F"/>
                </a:solidFill>
                <a:latin typeface="Calibri"/>
              </a:rPr>
              <a:t>›  Add book / add copy,  </a:t>
            </a:r>
            <a:r>
              <a:rPr sz="1500">
                <a:solidFill>
                  <a:srgbClr val="2A2620"/>
                </a:solidFill>
                <a:latin typeface="Calibri"/>
              </a:rPr>
              <a:t>manual single-item entry with the same College→Department→Course picker.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A8721F"/>
                </a:solidFill>
                <a:latin typeface="Calibri"/>
              </a:rPr>
              <a:t>›  Bulk import,  </a:t>
            </a:r>
            <a:r>
              <a:rPr sz="1500">
                <a:solidFill>
                  <a:srgbClr val="2A2620"/>
                </a:solidFill>
                <a:latin typeface="Calibri"/>
              </a:rPr>
              <a:t>upload an .xlsx (isbn, title, author, copies, optional course); course names are matched case-insensitively, unmatched rows still import.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A8721F"/>
                </a:solidFill>
                <a:latin typeface="Calibri"/>
              </a:rPr>
              <a:t>›  Members,  </a:t>
            </a:r>
            <a:r>
              <a:rPr sz="1500">
                <a:solidFill>
                  <a:srgbClr val="2A2620"/>
                </a:solidFill>
                <a:latin typeface="Calibri"/>
              </a:rPr>
              <a:t>view accounts and status.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A8721F"/>
                </a:solidFill>
                <a:latin typeface="Calibri"/>
              </a:rPr>
              <a:t>›  Overdue,  </a:t>
            </a:r>
            <a:r>
              <a:rPr sz="1500">
                <a:solidFill>
                  <a:srgbClr val="2A2620"/>
                </a:solidFill>
                <a:latin typeface="Calibri"/>
              </a:rPr>
              <a:t>dedicated view across every member.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20640" cy="4114800"/>
          </a:xfrm>
          <a:prstGeom prst="roundRect">
            <a:avLst>
              <a:gd name="adj" fmla="val 4500"/>
            </a:avLst>
          </a:prstGeom>
          <a:solidFill>
            <a:srgbClr val="FFFEFB"/>
          </a:solidFill>
          <a:ln w="12700">
            <a:solidFill>
              <a:srgbClr val="E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34739"/>
                </a:solidFill>
                <a:latin typeface="Calibri"/>
              </a:rPr>
              <a:t>Reports  ·  all downloadable as 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Borrowed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535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Overdue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8386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Returned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0142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Fines (charged vs. accruing)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445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Inventory (utilisation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2620"/>
                </a:solidFill>
                <a:latin typeface="Calibri"/>
              </a:rPr>
              <a:t>›  Most borrowed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721F"/>
                </a:solidFill>
                <a:latin typeface="Calibri"/>
              </a:rPr>
              <a:t>BE READY FOR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234739"/>
                </a:solidFill>
                <a:latin typeface="Georgia"/>
              </a:rPr>
              <a:t>Deliberate decisions, not oversights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550" b="1">
                <a:solidFill>
                  <a:srgbClr val="A8721F"/>
                </a:solidFill>
                <a:latin typeface="Calibri"/>
              </a:rPr>
              <a:t>›  No approval workflow.  </a:t>
            </a:r>
            <a:r>
              <a:rPr sz="1550">
                <a:solidFill>
                  <a:srgbClr val="2A2620"/>
                </a:solidFill>
                <a:latin typeface="Calibri"/>
              </a:rPr>
              <a:t>Removed in favor of pure self-service. Trade-off: nothing at the database level stops a hardcopy being marked "returned" without physically coming back — the UI adds a confirmation step, not enforcement.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550" b="1">
                <a:solidFill>
                  <a:srgbClr val="A8721F"/>
                </a:solidFill>
                <a:latin typeface="Calibri"/>
              </a:rPr>
              <a:t>›  No department link on student profiles.  </a:t>
            </a:r>
            <a:r>
              <a:rPr sz="1550">
                <a:solidFill>
                  <a:srgbClr val="2A2620"/>
                </a:solidFill>
                <a:latin typeface="Calibri"/>
              </a:rPr>
              <a:t>Reports can slice by book/course/department, not by "which department borrows most" — that field doesn't exist on Profile yet.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550" b="1">
                <a:solidFill>
                  <a:srgbClr val="A8721F"/>
                </a:solidFill>
                <a:latin typeface="Calibri"/>
              </a:rPr>
              <a:t>›  Course seed data is representative.  </a:t>
            </a:r>
            <a:r>
              <a:rPr sz="1550">
                <a:solidFill>
                  <a:srgbClr val="2A2620"/>
                </a:solidFill>
                <a:latin typeface="Calibri"/>
              </a:rPr>
              <a:t>6 colleges / 14 departments / 14 courses — a realistic slice of KNUST, not the full university.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KNUST Library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66E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9D3C4"/>
                </a:solidFill>
                <a:latin typeface="Calibri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FFFEFB"/>
                </a:solidFill>
                <a:latin typeface="Georgia"/>
              </a:rPr>
              <a:t>Live on Railway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10241280" cy="960120"/>
          </a:xfrm>
          <a:prstGeom prst="roundRect">
            <a:avLst>
              <a:gd name="adj" fmla="val 4500"/>
            </a:avLst>
          </a:prstGeom>
          <a:solidFill>
            <a:srgbClr val="1A352B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1635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B9D3C4"/>
                </a:solidFill>
                <a:latin typeface="Calibri"/>
              </a:rP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272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EFB"/>
                </a:solidFill>
                <a:latin typeface="Consolas"/>
              </a:rPr>
              <a:t>frontend-production-3c3f.up.railway.app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4983480" cy="960120"/>
          </a:xfrm>
          <a:prstGeom prst="roundRect">
            <a:avLst>
              <a:gd name="adj" fmla="val 4500"/>
            </a:avLst>
          </a:prstGeom>
          <a:solidFill>
            <a:srgbClr val="1A352B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593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B9D3C4"/>
                </a:solidFill>
                <a:latin typeface="Calibri"/>
              </a:rPr>
              <a:t>LIBRARIAN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02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EFB"/>
                </a:solidFill>
                <a:latin typeface="Consolas"/>
              </a:rPr>
              <a:t>librarian@library.com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794760"/>
            <a:ext cx="5074920" cy="960120"/>
          </a:xfrm>
          <a:prstGeom prst="roundRect">
            <a:avLst>
              <a:gd name="adj" fmla="val 4500"/>
            </a:avLst>
          </a:prstGeom>
          <a:solidFill>
            <a:srgbClr val="1A352B"/>
          </a:solidFill>
          <a:ln w="12700">
            <a:solidFill>
              <a:srgbClr val="1A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9593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B9D3C4"/>
                </a:solidFill>
                <a:latin typeface="Calibri"/>
              </a:rPr>
              <a:t>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2702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EFB"/>
                </a:solidFill>
                <a:latin typeface="Consolas"/>
              </a:rPr>
              <a:t>librarian123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D8E3DC"/>
                </a:solidFill>
                <a:latin typeface="Calibri"/>
              </a:rPr>
              <a:t>Any student/staff/external account can be created fresh through Register — that flow now enforces real KNUST email + index number rules.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EFB"/>
                </a:solidFill>
                <a:latin typeface="Georgia"/>
              </a:rPr>
              <a:t>Questions?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703320"/>
            <a:ext cx="2377440" cy="0"/>
          </a:xfrm>
          <a:prstGeom prst="line">
            <a:avLst/>
          </a:prstGeom>
          <a:ln w="19050">
            <a:solidFill>
              <a:srgbClr val="4C6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B9D3C4"/>
                </a:solidFill>
                <a:latin typeface="Calibri"/>
              </a:rPr>
              <a:t>KNUST Library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